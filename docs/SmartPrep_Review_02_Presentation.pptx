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B96F70-AEE2-41DE-B56D-7921EAF9746E}">
  <a:tblStyle styleId="{1AB96F70-AEE2-41DE-B56D-7921EAF9746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1556" y="420624"/>
            <a:ext cx="1005840" cy="99669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/>
        </p:nvSpPr>
        <p:spPr>
          <a:xfrm>
            <a:off x="914400" y="169164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LLOYD INSTITUTE OF ENGINEERING &amp; TECHNOLOGY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914400" y="2112264"/>
            <a:ext cx="10360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  Department of Computer Science &amp; Engineering &amp; </a:t>
            </a:r>
            <a:r>
              <a:rPr lang="en-US" sz="1800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Allied</a:t>
            </a:r>
            <a:r>
              <a:rPr lang="en-US" sz="1800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 Branches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914400" y="2715768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B.TECH SECOND YEAR MINI PROJECT  ·  BCC351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280160" y="3200400"/>
            <a:ext cx="9628632" cy="1371600"/>
          </a:xfrm>
          <a:prstGeom prst="roundRect">
            <a:avLst>
              <a:gd fmla="val 6667" name="adj"/>
            </a:avLst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1463040" y="3200400"/>
            <a:ext cx="926287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  <a:defRPr sz="2000" b="1">
                <a:solidFill>
                  <a:srgbClr val="FFFFFF"/>
                </a:solidFill>
              </a:defRPr>
            </a:pPr>
            <a:r>
              <a:t>SMARTPREP: AN AI-GUIDED CAREER PREPARATION &amp; PREREQUISITE-DRIVEN ROADMAP OPERATING SYSTEM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914400" y="470916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Mini </a:t>
            </a:r>
            <a:r>
              <a:rPr b="0" i="0" lang="en-US" sz="15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Project Presentation – II (Final Evaluation)   |   Session 2026–27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914400" y="5303520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150"/>
              <a:buFont typeface="Calibri"/>
              <a:buNone/>
              <a:defRPr b="1" sz="1300">
                <a:solidFill>
                  <a:srgbClr val="38BDF8"/>
                </a:solidFill>
              </a:defRPr>
            </a:pPr>
            <a:r>
              <a:t>GUIDE NAME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b="1" sz="1400">
                <a:solidFill>
                  <a:srgbClr val="FFFFFF"/>
                </a:solidFill>
              </a:defRPr>
            </a:pPr>
            <a:r>
              <a:t>Mr. Vishal Gupta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Assistant Professor</a:t>
            </a:r>
            <a:br/>
            <a:r>
              <a:t>Department of Computer Science &amp; Engineering</a:t>
            </a:r>
          </a:p>
        </p:txBody>
      </p:sp>
      <p:sp>
        <p:nvSpPr>
          <p:cNvPr id="26" name="Google Shape;26;p3"/>
          <p:cNvSpPr txBox="1"/>
          <p:nvPr/>
        </p:nvSpPr>
        <p:spPr>
          <a:xfrm>
            <a:off x="6949440" y="5303520"/>
            <a:ext cx="4389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150"/>
              <a:buFont typeface="Calibri"/>
              <a:buNone/>
              <a:defRPr b="1" sz="1300">
                <a:solidFill>
                  <a:srgbClr val="38BDF8"/>
                </a:solidFill>
              </a:defRPr>
            </a:pPr>
            <a:r>
              <a:t>SUBMITTED BY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b="1" sz="1400">
                <a:solidFill>
                  <a:srgbClr val="FFFFFF"/>
                </a:solidFill>
              </a:defRPr>
            </a:pPr>
            <a:r>
              <a:t>Ayush Kumar Singh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Roll No: 2501530100037</a:t>
            </a:r>
            <a:br/>
            <a:r>
              <a:t>Class &amp; Sec: B.Tech CSE, 2nd Year (Sec 2-A)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Presentation 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234440" y="169164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417320" y="18470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1417320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2011680" y="16916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Project Recap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234440" y="256032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417320" y="271576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1417320" y="27157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2011680" y="25603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Project Progress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234440" y="342900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417320" y="358444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1417320" y="35844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2011680" y="34290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234440" y="429768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417320" y="445312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1417320" y="4453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2011680" y="429768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Implementation Details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234440" y="516636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417320" y="532180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1417320" y="53218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2011680" y="516636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Working Demonstration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263640" y="169164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446520" y="18470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 txBox="1"/>
          <p:nvPr/>
        </p:nvSpPr>
        <p:spPr>
          <a:xfrm>
            <a:off x="6446520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040880" y="16916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Technical Understanding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263640" y="256032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446520" y="271576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6446520" y="27157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7040880" y="25603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Results &amp;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263640" y="342900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6446520" y="358444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6446520" y="35844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7040880" y="34290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Conclusion &amp; Future Scope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263640" y="429768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446520" y="445312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6446520" y="4453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7040880" y="429768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Project Recap (from Review-01)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234440" y="1600200"/>
            <a:ext cx="484632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1508760" y="18288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508760" y="2331720"/>
            <a:ext cx="42976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8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1" sz="1100">
                <a:solidFill>
                  <a:srgbClr val="38BDF8"/>
                </a:solidFill>
              </a:rPr>
              <a:t>• Information Overload &amp; Dispersion:</a:t>
            </a:r>
            <a:r>
              <a:rPr sz="1000">
                <a:solidFill>
                  <a:srgbClr val="E2E8F0"/>
                </a:solidFill>
              </a:rPr>
              <a:t> Engineering students struggle with scattered, unstructured tutorials across YouTube, blogs, and documentation without coherent learning paths.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• The Prerequisite Blindspot:</a:t>
            </a:r>
            <a:r>
              <a:rPr sz="1000">
                <a:solidFill>
                  <a:srgbClr val="E2E8F0"/>
                </a:solidFill>
              </a:rPr>
              <a:t> Beginners frequently attempt advanced frameworks (Spring Boot, Next.js, DP) without mastering foundational concepts, leading to high dropout rates.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• Lack of Dynamic Adaptive Pacing:</a:t>
            </a:r>
            <a:r>
              <a:rPr sz="1000">
                <a:solidFill>
                  <a:srgbClr val="E2E8F0"/>
                </a:solidFill>
              </a:rPr>
              <a:t> Generic online courses enforce rigid timelines without context-aware recovery plans when a student misses study days.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• Missing Diagnostic Verification:</a:t>
            </a:r>
            <a:r>
              <a:rPr sz="1000">
                <a:solidFill>
                  <a:srgbClr val="E2E8F0"/>
                </a:solidFill>
              </a:rPr>
              <a:t> Absence of integrated, instant diagnostic feedback to detect specific knowledge gaps and conceptual off-by-one errors.</a:t>
            </a:r>
          </a:p>
        </p:txBody>
      </p:sp>
      <p:sp>
        <p:nvSpPr>
          <p:cNvPr id="92" name="Google Shape;92;p5"/>
          <p:cNvSpPr/>
          <p:nvPr/>
        </p:nvSpPr>
        <p:spPr>
          <a:xfrm>
            <a:off x="6309360" y="1600200"/>
            <a:ext cx="475488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6583680" y="18288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6583680" y="2377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9FB3C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7223760" y="2423160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1" sz="1100">
                <a:solidFill>
                  <a:srgbClr val="FFFFFF"/>
                </a:solidFill>
              </a:rPr>
              <a:t>Multi-Path Roadmaps:</a:t>
            </a:r>
            <a:r>
              <a:rPr sz="1000">
                <a:solidFill>
                  <a:srgbClr val="CBD5E1"/>
                </a:solidFill>
              </a:rPr>
              <a:t> Curate structured syllabi across 6 key engineering roles (Backend, Full Stack, AI/ML, Data Eng, Android, Placement).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6583680" y="32735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9FB3C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7223760" y="3319272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1" sz="1100">
                <a:solidFill>
                  <a:srgbClr val="FFFFFF"/>
                </a:solidFill>
              </a:rPr>
              <a:t>Strict Prerequisite Gating:</a:t>
            </a:r>
            <a:r>
              <a:rPr sz="1000">
                <a:solidFill>
                  <a:srgbClr val="CBD5E1"/>
                </a:solidFill>
              </a:rPr>
              <a:t> Implement a dynamic state machine that locks advanced modules until foundation competencies are verified.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6583680" y="416966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9FB3C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7223760" y="4215384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1" sz="1100">
                <a:solidFill>
                  <a:srgbClr val="FFFFFF"/>
                </a:solidFill>
              </a:rPr>
              <a:t>Diagnostic Assessment:</a:t>
            </a:r>
            <a:r>
              <a:rPr sz="1000">
                <a:solidFill>
                  <a:srgbClr val="CBD5E1"/>
                </a:solidFill>
              </a:rPr>
              <a:t> Embed targeted technical quizzes with sound/confetti feedback to pinpoint and patch conceptual gaps in real time.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6583680" y="50657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9FB3C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7223760" y="5111496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1" sz="1100">
                <a:solidFill>
                  <a:srgbClr val="FFFFFF"/>
                </a:solidFill>
              </a:rPr>
              <a:t>Context-Aware AI Kernel:</a:t>
            </a:r>
            <a:r>
              <a:rPr sz="1000">
                <a:solidFill>
                  <a:srgbClr val="CBD5E1"/>
                </a:solidFill>
              </a:rPr>
              <a:t> Build an offline-first rule engine that generates personalized daily focus directives and 3-day recovery pipelines.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10424160" y="-1463040"/>
            <a:ext cx="3108900" cy="3108900"/>
          </a:xfrm>
          <a:prstGeom prst="ellipse">
            <a:avLst/>
          </a:prstGeom>
          <a:solidFill>
            <a:srgbClr val="1C7293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-1097280" y="5669280"/>
            <a:ext cx="2194500" cy="2194500"/>
          </a:xfrm>
          <a:prstGeom prst="ellipse">
            <a:avLst/>
          </a:prstGeom>
          <a:solidFill>
            <a:srgbClr val="21295C">
              <a:alpha val="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02920" y="457200"/>
            <a:ext cx="530400" cy="530400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 txBox="1"/>
          <p:nvPr/>
        </p:nvSpPr>
        <p:spPr>
          <a:xfrm>
            <a:off x="502920" y="457200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1234440" y="429768"/>
            <a:ext cx="868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PROJECT PROGRESS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1234440" y="676656"/>
            <a:ext cx="9692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Planned vs Completed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11228832" y="649224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234477" y="1600200"/>
            <a:ext cx="9994500" cy="44805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1590474" y="2194550"/>
            <a:ext cx="2387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800"/>
              <a:buFont typeface="Cambria"/>
              <a:buNone/>
              <a:defRPr sz="5400" b="1">
                <a:solidFill>
                  <a:srgbClr val="38BDF8"/>
                </a:solidFill>
              </a:defRPr>
            </a:pPr>
            <a:r>
              <a:t>100%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1234440" y="31546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OVERALL COMPLETION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1463064" y="3840475"/>
            <a:ext cx="5453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6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1100">
                <a:solidFill>
                  <a:srgbClr val="E2E8F0"/>
                </a:solidFill>
              </a:rPr>
              <a:t>✔  Full-stack React 19 + Vite 8 Single Page Application architecture fully established and validated.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2E8F0"/>
                </a:solidFill>
              </a:rPr>
              <a:t>✔  Automated Prerequisite State Machine: Dynamic stage status resolution (Completed, Current, Upcoming, Locked).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2E8F0"/>
                </a:solidFill>
              </a:rPr>
              <a:t>✔  Deterministic Local AI Guidance Kernel: Intent recognition for Daily Study Directives, 3-Day Catch-up Plans, and Weak-Area alerts.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2E8F0"/>
                </a:solidFill>
              </a:rPr>
              <a:t>✔  Interactive Diagnostic Knowledge Check: Multi-question assessments with Web Audio API sound synthesis and visual feedback.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2E8F0"/>
                </a:solidFill>
              </a:rPr>
              <a:t>✔  Real-Time Progress Tracking Engine: Daily study streak tracker, weekly hour logging, and progress percentage computation.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2E8F0"/>
                </a:solidFill>
              </a:rPr>
              <a:t>✔  Enhanced UI/UX: Dark &amp; Light theme switching, responsive desktop sidebar, and mobile bottom navigation.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2E8F0"/>
                </a:solidFill>
              </a:rPr>
              <a:t>✔  Production Optimization: Configured for zero-config cloud deployment on Vercel and Railway with instant client builds.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System Architecture / Workflow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234440" y="1600200"/>
            <a:ext cx="9848088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1234440" y="3200400"/>
            <a:ext cx="9848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/>
        </p:txBody>
      </p:sp>
      <p:pic>
        <p:nvPicPr>
          <p:cNvPr id="134" name="Picture 133" descr="smartprep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468880"/>
            <a:ext cx="9848088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Implementation Details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234471" y="1600200"/>
            <a:ext cx="9811200" cy="448050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1463075" y="1846475"/>
            <a:ext cx="9334500" cy="4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1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1" sz="1100">
                <a:solidFill>
                  <a:srgbClr val="38BDF8"/>
                </a:solidFill>
              </a:rPr>
              <a:t>1. Component-Driven Modular UI (React 19 + Tailwind CSS)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</a:pPr>
            <a:r>
              <a:rPr sz="950">
                <a:solidFill>
                  <a:srgbClr val="E2E8F0"/>
                </a:solidFill>
              </a:rPr>
              <a:t>Clean architectural separation between presentation (views) and domain logic. Atomic components (Navbar, Sidebar, RoadmapStage, StudySession) guarantee high reusability and responsiveness across mobile and desktop devices.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b="1" sz="1100">
                <a:solidFill>
                  <a:srgbClr val="38BDF8"/>
                </a:solidFill>
              </a:rPr>
              <a:t>2. Prerequisite State Machine &amp; DAG Traversal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E2E8F0"/>
                </a:solidFill>
              </a:rPr>
              <a:t>The learning curriculum is structured as a Directed Acyclic Graph (DAG). Stages evaluate dynamically: COMPLETED (in array), CURRENT (first incomplete module), UPCOMING (next in line), and LOCKED (unmet prerequisite barrier).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b="1" sz="1100">
                <a:solidFill>
                  <a:srgbClr val="38BDF8"/>
                </a:solidFill>
              </a:rPr>
              <a:t>3. Deterministic Local AI Guidance Kernel (aiEngine.js)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E2E8F0"/>
                </a:solidFill>
              </a:rPr>
              <a:t>Operates completely offline with 0ms network latency. The Context Builder aggregates active stage, velocity, deficit, and flagged weak areas, dispatching structured study directives and 3-day recovery pipelines.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b="1" sz="1100">
                <a:solidFill>
                  <a:srgbClr val="38BDF8"/>
                </a:solidFill>
              </a:rPr>
              <a:t>4. Interactive Diagnostic Quiz &amp; Web Audio Synthesis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E2E8F0"/>
                </a:solidFill>
              </a:rPr>
              <a:t>Features multi-question conceptual evaluations. Integrates the Web Audio API for synthetic audio cues without external media assets, coupled with canvas-confetti for positive learning reinforcement.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b="1" sz="1100">
                <a:solidFill>
                  <a:srgbClr val="38BDF8"/>
                </a:solidFill>
              </a:rPr>
              <a:t>5. Client Persistence &amp; Production Deployment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E2E8F0"/>
                </a:solidFill>
              </a:rPr>
              <a:t>Synchronizes reactive state with HTML5 LocalStorage for zero-loss offline continuity. Optimized with Vite 8 for sub-second production builds and pre-configured for Vercel / Railway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WORKING DEMONSTRATION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Working Demonstration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1234440" y="1600200"/>
            <a:ext cx="3154680" cy="38404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1234440" y="30175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/>
        </p:txBody>
      </p:sp>
      <p:sp>
        <p:nvSpPr>
          <p:cNvPr id="164" name="Google Shape;164;p9"/>
          <p:cNvSpPr txBox="1"/>
          <p:nvPr/>
        </p:nvSpPr>
        <p:spPr>
          <a:xfrm>
            <a:off x="1234440" y="56235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4389120" y="3017520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572000" y="1600200"/>
            <a:ext cx="3154680" cy="38404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4572000" y="30175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/>
        </p:txBody>
      </p:sp>
      <p:sp>
        <p:nvSpPr>
          <p:cNvPr id="168" name="Google Shape;168;p9"/>
          <p:cNvSpPr txBox="1"/>
          <p:nvPr/>
        </p:nvSpPr>
        <p:spPr>
          <a:xfrm>
            <a:off x="4572000" y="56235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7726680" y="3017520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7909560" y="1600200"/>
            <a:ext cx="3154680" cy="38404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7909560" y="30175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/>
        </p:txBody>
      </p:sp>
      <p:sp>
        <p:nvSpPr>
          <p:cNvPr id="172" name="Google Shape;172;p9"/>
          <p:cNvSpPr txBox="1"/>
          <p:nvPr/>
        </p:nvSpPr>
        <p:spPr>
          <a:xfrm>
            <a:off x="7909560" y="56235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Picture 172" descr="smartprep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1673352"/>
            <a:ext cx="3008376" cy="3694176"/>
          </a:xfrm>
          <a:prstGeom prst="rect">
            <a:avLst/>
          </a:prstGeom>
        </p:spPr>
      </p:pic>
      <p:pic>
        <p:nvPicPr>
          <p:cNvPr id="174" name="Picture 173" descr="smartprep_process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673352"/>
            <a:ext cx="3008376" cy="3694176"/>
          </a:xfrm>
          <a:prstGeom prst="rect">
            <a:avLst/>
          </a:prstGeom>
        </p:spPr>
      </p:pic>
      <p:pic>
        <p:nvPicPr>
          <p:cNvPr id="175" name="Picture 174" descr="smartprep_outp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712" y="1673352"/>
            <a:ext cx="3008376" cy="36941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TECHNICAL UNDERSTANDING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Technology Stack &amp; Core Concepts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234460" y="1600200"/>
            <a:ext cx="9829800" cy="25266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1463050" y="1884376"/>
            <a:ext cx="93270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Clr>
                <a:srgbClr val="6B7593"/>
              </a:buClr>
              <a:buSzPts val="1300"/>
              <a:buFont typeface="Calibri"/>
              <a:buNone/>
            </a:pPr>
            <a:r>
              <a:rPr b="1" sz="1050">
                <a:solidFill>
                  <a:srgbClr val="38BDF8"/>
                </a:solidFill>
              </a:rPr>
              <a:t>• React 19 (Frontend Architecture):</a:t>
            </a:r>
            <a:r>
              <a:rPr sz="950">
                <a:solidFill>
                  <a:srgbClr val="E2E8F0"/>
                </a:solidFill>
              </a:rPr>
              <a:t>  Powers component rendering, custom hooks (useApp), and reactive UI reconciliation via Fiber architecture.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38BDF8"/>
                </a:solidFill>
              </a:rPr>
              <a:t>• Vite 8.3 (Build &amp; Dev Tooling):</a:t>
            </a:r>
            <a:r>
              <a:rPr sz="950">
                <a:solidFill>
                  <a:srgbClr val="E2E8F0"/>
                </a:solidFill>
              </a:rPr>
              <a:t>  Provides lightning-fast Hot Module Replacement (HMR) and optimized Rollup tree-shaking (&lt;700ms build).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38BDF8"/>
                </a:solidFill>
              </a:rPr>
              <a:t>• Tailwind CSS v4 (Design System):</a:t>
            </a:r>
            <a:r>
              <a:rPr sz="950">
                <a:solidFill>
                  <a:srgbClr val="E2E8F0"/>
                </a:solidFill>
              </a:rPr>
              <a:t>  Responsive styling system utilizing modern CSS variables for instant dark/light mode toggling.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38BDF8"/>
                </a:solidFill>
              </a:rPr>
              <a:t>• React Router DOM v7 (Navigation):</a:t>
            </a:r>
            <a:r>
              <a:rPr sz="950">
                <a:solidFill>
                  <a:srgbClr val="E2E8F0"/>
                </a:solidFill>
              </a:rPr>
              <a:t>  Declarative client-side routing with complete SPA history and catch-all redirect handling.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38BDF8"/>
                </a:solidFill>
              </a:rPr>
              <a:t>• Local AI Kernel Engine:</a:t>
            </a:r>
            <a:r>
              <a:rPr sz="950">
                <a:solidFill>
                  <a:srgbClr val="E2E8F0"/>
                </a:solidFill>
              </a:rPr>
              <a:t>  Lightweight, deterministic heuristic evaluator executing context aggregation without cloud latency or costs.</a:t>
            </a:r>
          </a:p>
        </p:txBody>
      </p:sp>
      <p:sp>
        <p:nvSpPr>
          <p:cNvPr id="188" name="Google Shape;188;p10"/>
          <p:cNvSpPr/>
          <p:nvPr/>
        </p:nvSpPr>
        <p:spPr>
          <a:xfrm>
            <a:off x="1234440" y="4480560"/>
            <a:ext cx="982980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1463040" y="4617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Core Concept / Algorithm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1463040" y="5029200"/>
            <a:ext cx="9326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2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1" sz="1100">
                <a:solidFill>
                  <a:srgbClr val="FFFFFF"/>
                </a:solidFill>
              </a:rPr>
              <a:t>Directed Acyclic Graph (DAG) Prerequisite Gating &amp; Context State Modeling:
</a:t>
            </a:r>
            <a:r>
              <a:rPr sz="950">
                <a:solidFill>
                  <a:srgbClr val="CBD5E1"/>
                </a:solidFill>
              </a:rPr>
              <a:t>Each career track is modeled as a topological sequence of nodes. Node i is strictly gated until all predecessors Pred(i) are verified in CompletedStages. Concurrently, the AI Kernel aggregates real-time velocity, active knowledge gaps, and target hours to synthesize adaptive 3-day recovery schedules.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Results &amp; Testing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11"/>
          <p:cNvGraphicFramePr/>
          <p:nvPr/>
        </p:nvGraphicFramePr>
        <p:xfrm>
          <a:off x="12344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{1AB96F70-AEE2-41DE-B56D-7921EAF9746E}</a:tableStyleId>
              </a:tblPr>
              <a:tblGrid>
                <a:gridCol w="1097275"/>
                <a:gridCol w="2662475"/>
                <a:gridCol w="3042775"/>
                <a:gridCol w="2806475"/>
              </a:tblGrid>
              <a:tr h="54865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Test Case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Input Scenario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Expected System Output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Actual Result / Status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TC-01: Track Init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Select 'Backend Developer' goal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Initialize 7 stages; Stage 1 Current, 2-7 Locked; Progress 0%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4D399"/>
                          </a:solidFill>
                        </a:defRPr>
                      </a:pPr>
                      <a:r>
                        <a:t>✔ PASSED (&lt;2ms latency)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TC-02: Prereq Gating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Complete Stage 1 &amp; Stage 2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Stages 1-2 marked Completed, Stage 3 unlocks, Progress = 29%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4D399"/>
                          </a:solidFill>
                        </a:defRPr>
                      </a:pPr>
                      <a:r>
                        <a:t>✔ PASSED (Dynamic unlock verified)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TC-03: Security Lock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Attempt to access Stage 5 directly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Action gated; Lock notification displayed; Stage remains Locked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4D399"/>
                          </a:solidFill>
                        </a:defRPr>
                      </a:pPr>
                      <a:r>
                        <a:t>✔ PASSED (Integrity preserved)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TC-04: AI Recovery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Query: 'I missed 3 days, adjust plan'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AI Kernel calculates deficit and generates 3-day recovery plan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4D399"/>
                          </a:solidFill>
                        </a:defRPr>
                      </a:pPr>
                      <a:r>
                        <a:t>✔ PASSED (Context-aware output)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TC-05: Diagnostic Quiz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Submit quiz on Java Interfaces &amp; Stack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Calculate score, flag weak areas, synthesize Web Audio feedback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4D399"/>
                          </a:solidFill>
                        </a:defRPr>
                      </a:pPr>
                      <a:r>
                        <a:t>✔ PASSED (Zero audio latency)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11"/>
          <p:cNvSpPr txBox="1"/>
          <p:nvPr/>
        </p:nvSpPr>
        <p:spPr>
          <a:xfrm>
            <a:off x="1234440" y="5349240"/>
            <a:ext cx="982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  <a:defRPr sz="1100" b="1">
                <a:solidFill>
                  <a:srgbClr val="34D399"/>
                </a:solidFill>
              </a:defRPr>
            </a:pPr>
            <a:r>
              <a:t>Key Result: 100% test pass rate across core modules; &lt;15ms UI response latency; sub-second cold build time (681ms); offline persistence verified.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Conclusion, Challenges &amp; Future Scope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1234440" y="1600200"/>
            <a:ext cx="3154680" cy="448056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1463040" y="1828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 txBox="1"/>
          <p:nvPr/>
        </p:nvSpPr>
        <p:spPr>
          <a:xfrm>
            <a:off x="146304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2057400" y="1892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1463040" y="2560320"/>
            <a:ext cx="2697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950">
                <a:solidFill>
                  <a:srgbClr val="E2E8F0"/>
                </a:solidFill>
              </a:rPr>
              <a:t>• Successfully designed and implemented SmartPrep, an AI-guided career preparation OS for B.Tech CSE students.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</a:pPr>
            <a:r>
              <a:rPr sz="950">
                <a:solidFill>
                  <a:srgbClr val="E2E8F0"/>
                </a:solidFill>
              </a:rPr>
              <a:t>• Eliminated the 'prerequisite trap' through automated topological stage gating across 6 engineering tracks.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E2E8F0"/>
                </a:solidFill>
              </a:rPr>
              <a:t>• Proved that deterministic local AI guidance provides immediate, reliable study pacing without external server dependency.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E2E8F0"/>
                </a:solidFill>
              </a:rPr>
              <a:t>• Delivered a zero-latency, production-ready SPA with verified state persistence and responsive design.</a:t>
            </a:r>
          </a:p>
        </p:txBody>
      </p:sp>
      <p:sp>
        <p:nvSpPr>
          <p:cNvPr id="224" name="Google Shape;224;p12"/>
          <p:cNvSpPr/>
          <p:nvPr/>
        </p:nvSpPr>
        <p:spPr>
          <a:xfrm>
            <a:off x="4572000" y="1600200"/>
            <a:ext cx="3154680" cy="448056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4800600" y="1828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 txBox="1"/>
          <p:nvPr/>
        </p:nvSpPr>
        <p:spPr>
          <a:xfrm>
            <a:off x="48006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5394960" y="1892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Challenges &amp; Solutions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4800600" y="2560320"/>
            <a:ext cx="2697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1" sz="950">
                <a:solidFill>
                  <a:srgbClr val="FBBF24"/>
                </a:solidFill>
              </a:rPr>
              <a:t>• State Management Without DB:</a:t>
            </a:r>
            <a:r>
              <a:rPr sz="900">
                <a:solidFill>
                  <a:srgbClr val="E2E8F0"/>
                </a:solidFill>
              </a:rPr>
              <a:t>  Resolved by engineering pure stage derivation functions in React Context synced with LocalStorage.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BBF24"/>
                </a:solidFill>
              </a:rPr>
              <a:t>• AI Guidance Without API Costs:</a:t>
            </a:r>
            <a:r>
              <a:rPr sz="900">
                <a:solidFill>
                  <a:srgbClr val="E2E8F0"/>
                </a:solidFill>
              </a:rPr>
              <a:t>  Resolved by architecting a rule-based AI Kernel with context extraction and intent classification.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BBF24"/>
                </a:solidFill>
              </a:rPr>
              <a:t>• Sound Assets Overhead:</a:t>
            </a:r>
            <a:r>
              <a:rPr sz="900">
                <a:solidFill>
                  <a:srgbClr val="E2E8F0"/>
                </a:solidFill>
              </a:rPr>
              <a:t>  Resolved by utilizing browser Web Audio API oscillator nodes for lightweight audio synthesis.</a:t>
            </a:r>
          </a:p>
        </p:txBody>
      </p:sp>
      <p:sp>
        <p:nvSpPr>
          <p:cNvPr id="229" name="Google Shape;229;p12"/>
          <p:cNvSpPr/>
          <p:nvPr/>
        </p:nvSpPr>
        <p:spPr>
          <a:xfrm>
            <a:off x="7909560" y="1600200"/>
            <a:ext cx="3154680" cy="448056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8138160" y="1828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 txBox="1"/>
          <p:nvPr/>
        </p:nvSpPr>
        <p:spPr>
          <a:xfrm>
            <a:off x="813816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8732520" y="1892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Future Scope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8138160" y="2560320"/>
            <a:ext cx="2697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950">
                <a:solidFill>
                  <a:srgbClr val="E2E8F0"/>
                </a:solidFill>
              </a:rPr>
              <a:t>• Cloud Backend: Connect Spring Boot / Node.js backend with PostgreSQL for multi-device sync and user authentication.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</a:pPr>
            <a:r>
              <a:rPr sz="950">
                <a:solidFill>
                  <a:srgbClr val="E2E8F0"/>
                </a:solidFill>
              </a:rPr>
              <a:t>• LLM API Integration: Connect Google Gemini API for automated code review, personalized hints, and dynamic interview prep.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E2E8F0"/>
                </a:solidFill>
              </a:rPr>
              <a:t>• Peer Social Pods: Introduce peer study rooms, campus-wide streak leaderboards, and collaborative coding challenges.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E2E8F0"/>
                </a:solidFill>
              </a:rPr>
              <a:t>• Multi-Platform Deployment: Continuous delivery pipeline deploying to Vercel, Railway, and GitHub Pages.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1234440" y="1600200"/>
            <a:ext cx="9848088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 txBox="1"/>
          <p:nvPr/>
        </p:nvSpPr>
        <p:spPr>
          <a:xfrm>
            <a:off x="1554480" y="18745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6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950">
                <a:solidFill>
                  <a:srgbClr val="E2E8F0"/>
                </a:solidFill>
              </a:rPr>
              <a:t>[1]  E. Gamma, R. Helm, R. Johnson, and J. Vlissides, Design Patterns: Elements of Reusable Object-Oriented Software. Reading, MA: Addison-Wesley, 1994.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600"/>
              </a:spcAft>
            </a:pPr>
            <a:r>
              <a:rPr sz="950">
                <a:solidFill>
                  <a:srgbClr val="E2E8F0"/>
                </a:solidFill>
              </a:rPr>
              <a:t>[2]  A. Banks and E. Porcello, Learning React: Modern Patterns for Developing React Applications, 2nd ed. Sebastopol, CA: O'Reilly Media, 2020.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E2E8F0"/>
                </a:solidFill>
              </a:rPr>
              <a:t>[3]  T. H. Cormen, C. E. Leiserson, R. L. Rivest, and C. Stein, Introduction to Algorithms, 4th ed. Cambridge, MA: MIT Press, 2022.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E2E8F0"/>
                </a:solidFill>
              </a:rPr>
              <a:t>[4]  IEEE Standard for Software Engineering — Software Life Cycle Processes, IEEE Std 12207-2017, pp. 1–138, Nov. 2017.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E2E8F0"/>
                </a:solidFill>
              </a:rPr>
              <a:t>[5]  Vite Core Team, "Next Generation Frontend Tooling," Vite Documentation, 2024. [Online]. Available: https://vite.dev.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E2E8F0"/>
                </a:solidFill>
              </a:rPr>
              <a:t>[6]  React Core Team, "React Documentation — Components, State and Context," Meta Platforms, 2024. [Online]. Available: https://react.dev.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E2E8F0"/>
                </a:solidFill>
              </a:rPr>
              <a:t>[7]  Tailwind Labs, "Tailwind CSS Documentation — Modern Utility Styling," 2024. [Online]. Available: https://tailwindcss.com.</a:t>
            </a:r>
          </a:p>
        </p:txBody>
      </p:sp>
      <p:sp>
        <p:nvSpPr>
          <p:cNvPr id="249" name="Google Shape;249;p13"/>
          <p:cNvSpPr txBox="1"/>
          <p:nvPr/>
        </p:nvSpPr>
        <p:spPr>
          <a:xfrm>
            <a:off x="1554480" y="5394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NOTE: All references must be cited in IEEE format.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 txBox="1"/>
          <p:nvPr/>
        </p:nvSpPr>
        <p:spPr>
          <a:xfrm>
            <a:off x="914400" y="2468880"/>
            <a:ext cx="10360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914400" y="338328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Questions &amp; suggestions are welcome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914400" y="475488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300"/>
              <a:buFont typeface="Calibri"/>
              <a:buNone/>
              <a:defRPr b="1" sz="1400">
                <a:solidFill>
                  <a:srgbClr val="38BDF8"/>
                </a:solidFill>
              </a:defRPr>
            </a:pPr>
            <a:r>
              <a:t>SmartPrep: An AI-Guided Career Preparation Operating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Ayush Kumar Singh  |  Roll No. 2501530100037  |  B.Tech CSE, 2nd Year (Sec 2-A)</a:t>
            </a:r>
            <a:br/>
            <a:r>
              <a:t>Guide: Mr. Vishal Gupta (Assistant Professor, Dept. of CSE)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Department of Computer Science &amp; Engineering &amp; Allied Branches</a:t>
            </a:r>
            <a:br/>
            <a:r>
              <a:t>Lloyd Institute of Engineering &amp; Technology, Greater Noida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